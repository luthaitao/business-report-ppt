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828800"/>
            <a:ext cx="4206240" cy="4206240"/>
          </a:xfrm>
          <a:prstGeom prst="ellipse">
            <a:avLst/>
          </a:prstGeom>
          <a:solidFill>
            <a:srgbClr val="F1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95728"/>
            <a:ext cx="109728" cy="178308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331720"/>
            <a:ext cx="7498079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202022"/>
                </a:solidFill>
                <a:latin typeface="微软雅黑"/>
                <a:ea typeface="微软雅黑"/>
              </a:rPr>
              <a:t>季度业务汇报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493008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868687"/>
                </a:solidFill>
                <a:latin typeface="微软雅黑"/>
                <a:ea typeface="微软雅黑"/>
              </a:rPr>
              <a:t>2026年第三季度经营分析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4160520"/>
            <a:ext cx="749807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汇报人：张明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日期：2026年10月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713232"/>
            <a:ext cx="36576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202022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426464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961120" y="0"/>
            <a:ext cx="3230575" cy="6858000"/>
          </a:xfrm>
          <a:prstGeom prst="rect">
            <a:avLst/>
          </a:prstGeom>
          <a:solidFill>
            <a:srgbClr val="F7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464040" y="3246120"/>
            <a:ext cx="50292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084831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经营业绩回顾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64408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3291840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关键指标分析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471416"/>
            <a:ext cx="822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BE1007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4498848"/>
            <a:ext cx="5943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202022"/>
                </a:solidFill>
                <a:latin typeface="微软雅黑"/>
                <a:ea typeface="微软雅黑"/>
              </a:rPr>
              <a:t>下季度工作计划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BE1007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47872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02022"/>
                </a:solidFill>
                <a:latin typeface="微软雅黑"/>
                <a:ea typeface="微软雅黑"/>
              </a:rPr>
              <a:t>经营业绩回顾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434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7"/>
                </a:solidFill>
                <a:latin typeface="微软雅黑"/>
                <a:ea typeface="微软雅黑"/>
              </a:rPr>
              <a:t>BUSINESS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2"/>
                </a:solidFill>
                <a:latin typeface="微软雅黑"/>
                <a:ea typeface="微软雅黑"/>
              </a:rPr>
              <a:t>本季度经营概况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16736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营收规模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营业收入18.6亿元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同比增长18%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创单季历史新高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79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盈利水平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毛利率34.2%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环比提升1.1个百分点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三项费用率下降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市场覆盖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新增签约客户46家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覆盖华东华南主要区域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渠道伙伴达120家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微软雅黑"/>
                <a:ea typeface="微软雅黑"/>
              </a:rPr>
              <a:t>2026Q3 · 经营分析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>
                <a:solidFill>
                  <a:srgbClr val="BE1007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3547872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202022"/>
                </a:solidFill>
                <a:latin typeface="微软雅黑"/>
                <a:ea typeface="微软雅黑"/>
              </a:rPr>
              <a:t>关键指标分析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4348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68687"/>
                </a:solidFill>
                <a:latin typeface="微软雅黑"/>
                <a:ea typeface="微软雅黑"/>
              </a:rPr>
              <a:t>KEY METRICS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2"/>
                </a:solidFill>
                <a:latin typeface="微软雅黑"/>
                <a:ea typeface="微软雅黑"/>
              </a:rPr>
              <a:t>关键指标一览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16736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3657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BE1007"/>
                </a:solidFill>
                <a:latin typeface="微软雅黑"/>
                <a:ea typeface="微软雅黑"/>
              </a:rPr>
              <a:t>18.6%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4290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68687"/>
                </a:solidFill>
                <a:latin typeface="微软雅黑"/>
                <a:ea typeface="微软雅黑"/>
              </a:rPr>
              <a:t>营收同比增长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2194560"/>
            <a:ext cx="10972" cy="2651760"/>
          </a:xfrm>
          <a:prstGeom prst="rect">
            <a:avLst/>
          </a:prstGeom>
          <a:solidFill>
            <a:srgbClr val="E3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74920" y="221284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34.2%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228600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毛利率,环比+1.1pct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3172968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46家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3720" y="32461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新增签约客户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4133087"/>
            <a:ext cx="1737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202022"/>
                </a:solidFill>
                <a:latin typeface="微软雅黑"/>
                <a:ea typeface="微软雅黑"/>
              </a:rPr>
              <a:t>91%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42062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重点客户续约率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微软雅黑"/>
                <a:ea typeface="微软雅黑"/>
              </a:rPr>
              <a:t>口径:2026Q3 vs 2025Q3,未经审计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58368"/>
            <a:ext cx="8686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202022"/>
                </a:solidFill>
                <a:latin typeface="微软雅黑"/>
                <a:ea typeface="微软雅黑"/>
              </a:rPr>
              <a:t>下季度工作计划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316736"/>
            <a:ext cx="822960" cy="45720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4300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市场拓展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聚焦新能源行业客户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目标新签30家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举办3场行业沙龙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754879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79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产品交付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79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完成V3.0版本发布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交付周期缩短15%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客户满意度不低于4.5分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011680"/>
            <a:ext cx="3291840" cy="3383280"/>
          </a:xfrm>
          <a:prstGeom prst="roundRect">
            <a:avLst>
              <a:gd name="adj" fmla="val 6000"/>
            </a:avLst>
          </a:prstGeom>
          <a:solidFill>
            <a:srgbClr val="F7F7F6"/>
          </a:solidFill>
          <a:ln w="9525">
            <a:solidFill>
              <a:srgbClr val="E3E3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2395728"/>
            <a:ext cx="45720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2633472"/>
            <a:ext cx="2697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02022"/>
                </a:solidFill>
                <a:latin typeface="微软雅黑"/>
                <a:ea typeface="微软雅黑"/>
              </a:rPr>
              <a:t>团队建设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218688"/>
            <a:ext cx="26974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交付团队扩充至80人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完成专业认证20人次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868687"/>
                </a:solidFill>
                <a:latin typeface="微软雅黑"/>
                <a:ea typeface="微软雅黑"/>
              </a:rPr>
              <a:t>建立导师制梯队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3276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9A9A9A"/>
                </a:solidFill>
                <a:latin typeface="微软雅黑"/>
                <a:ea typeface="微软雅黑"/>
              </a:rPr>
              <a:t>2026Q4 · 工作计划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33288" y="2304288"/>
            <a:ext cx="731520" cy="64008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06040"/>
            <a:ext cx="105430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202022"/>
                </a:solidFill>
                <a:latin typeface="微软雅黑"/>
                <a:ea typeface="微软雅黑"/>
              </a:rPr>
              <a:t>谢谢观看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4303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868687"/>
                </a:solidFill>
                <a:latin typeface="微软雅黑"/>
                <a:ea typeface="微软雅黑"/>
              </a:rPr>
              <a:t>THANKS FOR WATCHING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BE10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